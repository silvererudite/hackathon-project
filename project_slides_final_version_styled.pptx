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84831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spc="160">
                <a:solidFill>
                  <a:srgbClr val="6B7A87"/>
                </a:solidFill>
                <a:latin typeface="Consolas"/>
              </a:rPr>
              <a:t>ELLIS SUMMER SCHOOL AI4RESEARCH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78608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0D141C"/>
                </a:solidFill>
                <a:latin typeface="Archivo"/>
              </a:rPr>
              <a:t>Trust the data? – Agentic Quality Control for Scientific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986784"/>
            <a:ext cx="2377440" cy="27432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245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3B4A59"/>
                </a:solidFill>
                <a:latin typeface="Archivo"/>
              </a:rPr>
              <a:t>A Case Study of Inattentive Responding in Behavioral Science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5332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A87"/>
                </a:solidFill>
                <a:latin typeface="Consolas"/>
              </a:rPr>
              <a:t>Shamima Hossain, Ritesh Moon, Yuheng Zhao, Alexandra Zienkiewic, Mikaela Akrenius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spc="160">
                <a:solidFill>
                  <a:srgbClr val="6B7A87"/>
                </a:solidFill>
                <a:latin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1">
                <a:solidFill>
                  <a:srgbClr val="0D141C"/>
                </a:solidFill>
                <a:latin typeface="Archivo"/>
              </a:rPr>
              <a:t>Background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64208"/>
            <a:ext cx="1645920" cy="27432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7692"/>
            <a:ext cx="77724" cy="77724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2029968"/>
            <a:ext cx="581558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0D141C"/>
                </a:solidFill>
                <a:latin typeface="Archivo"/>
              </a:rPr>
              <a:t>Problem: detecting spurious correlations caused by inattentive participants in online data on human subjects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92426"/>
            <a:ext cx="77724" cy="77724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314702"/>
            <a:ext cx="581558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0D141C"/>
                </a:solidFill>
                <a:latin typeface="Archivo"/>
              </a:rPr>
              <a:t>Target paper: Zorowitz et al. (2023)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599436"/>
            <a:ext cx="1645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599436"/>
            <a:ext cx="5532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B4A59"/>
                </a:solidFill>
                <a:latin typeface="Archivo"/>
              </a:rPr>
              <a:t>reinforcement learning task measures x psychiatric survey measures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84169"/>
            <a:ext cx="1645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884169"/>
            <a:ext cx="5532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B4A59"/>
                </a:solidFill>
                <a:latin typeface="Archivo"/>
              </a:rPr>
              <a:t>detecting and eliminating inattentive participants using task- and survey-based data quality metrics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246627"/>
            <a:ext cx="77724" cy="77724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3168903"/>
            <a:ext cx="581558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0D141C"/>
                </a:solidFill>
                <a:latin typeface="Archivo"/>
              </a:rPr>
              <a:t>Research question: Can a LLM recognize and exclude the same participants based on statistical information alone – without information from the paper?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65804"/>
            <a:ext cx="77724" cy="77724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688080"/>
            <a:ext cx="581558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0D141C"/>
                </a:solidFill>
                <a:latin typeface="Archivo"/>
              </a:rPr>
              <a:t>Method: simple prompt + subsets of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972813"/>
            <a:ext cx="1645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972813"/>
            <a:ext cx="5532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B4A59"/>
                </a:solidFill>
                <a:latin typeface="Archivo"/>
              </a:rPr>
              <a:t>measures only + trial-level task data + trial-level survey data + both + metrics from from paper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1874519"/>
            <a:ext cx="420624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3931920" cy="214409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78040" y="45537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spc="120">
                <a:solidFill>
                  <a:srgbClr val="6B7A87"/>
                </a:solidFill>
                <a:latin typeface="Consolas"/>
              </a:rPr>
              <a:t>ZOROWITZ ET AL. (2023)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F75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spc="160">
                <a:solidFill>
                  <a:srgbClr val="6B7A87"/>
                </a:solidFill>
                <a:latin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1">
                <a:solidFill>
                  <a:srgbClr val="0D141C"/>
                </a:solidFill>
                <a:latin typeface="Archivo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84048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spc="130">
                <a:solidFill>
                  <a:srgbClr val="6B7A87"/>
                </a:solidFill>
                <a:latin typeface="Consolas"/>
              </a:rPr>
              <a:t>REFERENCE — PAPER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658368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3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272" y="722376"/>
            <a:ext cx="3474720" cy="14522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02996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spc="130">
                <a:solidFill>
                  <a:srgbClr val="6B7A87"/>
                </a:solidFill>
                <a:latin typeface="Consolas"/>
              </a:rPr>
              <a:t>OURS — FIVE DATA CONDITIONS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304288"/>
            <a:ext cx="2084831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3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350008"/>
            <a:ext cx="1993391" cy="139515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3831336"/>
            <a:ext cx="208483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spc="110">
                <a:solidFill>
                  <a:srgbClr val="6B7A87"/>
                </a:solidFill>
                <a:latin typeface="Consolas"/>
              </a:rPr>
              <a:t>BASELINE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08375" y="2304288"/>
            <a:ext cx="2084831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3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4095" y="2350008"/>
            <a:ext cx="1993391" cy="13743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008375" y="3831336"/>
            <a:ext cx="208483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spc="110">
                <a:solidFill>
                  <a:srgbClr val="6B7A87"/>
                </a:solidFill>
                <a:latin typeface="Consolas"/>
              </a:rPr>
              <a:t>TEST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2304288"/>
            <a:ext cx="2084831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3_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9512" y="2350008"/>
            <a:ext cx="1993391" cy="13897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93792" y="3831336"/>
            <a:ext cx="208483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spc="110">
                <a:solidFill>
                  <a:srgbClr val="6B7A87"/>
                </a:solidFill>
                <a:latin typeface="Consolas"/>
              </a:rPr>
              <a:t>TEST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9207" y="2304288"/>
            <a:ext cx="2084831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3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4927" y="2350008"/>
            <a:ext cx="1993391" cy="138501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79207" y="3831336"/>
            <a:ext cx="208483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spc="110">
                <a:solidFill>
                  <a:srgbClr val="6B7A87"/>
                </a:solidFill>
                <a:latin typeface="Consolas"/>
              </a:rPr>
              <a:t>TEST 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64624" y="2304288"/>
            <a:ext cx="2084831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3_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0344" y="2350008"/>
            <a:ext cx="1993391" cy="137032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564624" y="3831336"/>
            <a:ext cx="208483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spc="110">
                <a:solidFill>
                  <a:srgbClr val="6B7A87"/>
                </a:solidFill>
                <a:latin typeface="Consolas"/>
              </a:rPr>
              <a:t>TEST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224528"/>
            <a:ext cx="10561320" cy="18288"/>
          </a:xfrm>
          <a:prstGeom prst="rect">
            <a:avLst/>
          </a:prstGeom>
          <a:solidFill>
            <a:srgbClr val="D3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443984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D141C"/>
                </a:solidFill>
                <a:latin typeface="Archivo"/>
              </a:rPr>
              <a:t>Main 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773168"/>
            <a:ext cx="1645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4773168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3B4A59"/>
                </a:solidFill>
                <a:latin typeface="Archivo"/>
              </a:rPr>
              <a:t>As expected, LLM needed more than summary information from the data to exclude participants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017135"/>
            <a:ext cx="1645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5017135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3B4A59"/>
                </a:solidFill>
                <a:latin typeface="Archivo"/>
              </a:rPr>
              <a:t>As in paper, trial-level information from survey was more useful than trial-level information from task, and best results were achieved using both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468493"/>
            <a:ext cx="1645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5468493"/>
            <a:ext cx="4526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3B4A59"/>
                </a:solidFill>
                <a:latin typeface="Archivo"/>
              </a:rPr>
              <a:t>When LLM was given exclusion metrics used in the paper it made more exclusions than the paper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D141C"/>
                </a:solidFill>
                <a:latin typeface="Archivo"/>
              </a:rPr>
              <a:t>Next steps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773168"/>
            <a:ext cx="1645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477316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3B4A59"/>
                </a:solidFill>
                <a:latin typeface="Archivo"/>
              </a:rPr>
              <a:t>Ground truth – paper, AI, or something else?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5017135"/>
            <a:ext cx="1645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5017135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3B4A59"/>
                </a:solidFill>
                <a:latin typeface="Archivo"/>
              </a:rPr>
              <a:t>What kinds of processes did the LLM engage in and what information did it use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261102"/>
            <a:ext cx="1645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526110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3B4A59"/>
                </a:solidFill>
                <a:latin typeface="Archivo"/>
              </a:rPr>
              <a:t>Repeating process for other data reliability problems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505068"/>
            <a:ext cx="1645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550506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3B4A59"/>
                </a:solidFill>
                <a:latin typeface="Archivo"/>
              </a:rPr>
              <a:t>Developing tool for research and/or deriving insight for research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6327648"/>
            <a:ext cx="105613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2960" y="6327648"/>
            <a:ext cx="45720" cy="402336"/>
          </a:xfrm>
          <a:prstGeom prst="rect">
            <a:avLst/>
          </a:prstGeom>
          <a:solidFill>
            <a:srgbClr val="2F75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2415" y="6428232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D141C"/>
                </a:solidFill>
                <a:latin typeface="Archivo"/>
              </a:rPr>
              <a:t>Significance: </a:t>
            </a:r>
            <a:r>
              <a:rPr sz="1200" b="0">
                <a:solidFill>
                  <a:srgbClr val="0D141C"/>
                </a:solidFill>
                <a:latin typeface="Archivo"/>
              </a:rPr>
              <a:t>increasing data quality -&gt; more accurate results -&gt; better real-world application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