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6" r:id="rId6"/>
    <p:sldId id="258" r:id="rId7"/>
    <p:sldId id="262" r:id="rId8"/>
    <p:sldId id="265" r:id="rId9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1B68-A273-D665-E71A-BD33C9860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37B14-BAD2-BEE1-F32B-62BA4FAB8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3A63-9220-B15B-09C2-03092744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0D748-A5B2-C631-2FA1-4A98201C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807B-67FB-EF0E-5C75-0AD76ED1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D5BA7-972C-3DDE-1578-D57D119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799F-B4A2-2E88-5885-3162C75F9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6220F-66AA-2170-6765-B238A835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DF6-E859-25F3-1D26-717249C2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9C32-7D48-147F-1F56-01FA5974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5632-657A-3800-80A1-83636AA3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1DE21-CBAE-CAB0-30AA-13359294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8A94-6613-17B3-77E4-E9ABF6916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66637-3403-E40F-8192-B230567A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70BFF-DFFA-DFB4-B376-78A36C53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6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500-4F1A-34CC-D344-CECB4139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877D-CE6D-A909-8601-4CD00885D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1A2DE-35EC-24EC-9158-FEC87B491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7095-6534-AECA-3327-F2CFD881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B0E02-9674-38BF-605D-79138ACF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E4379-EB60-351A-43D7-DDF5996A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5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2D61-E0E3-D2E3-F567-73BA7493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A0AF2-BE15-B1AC-BC3D-15DF20C3D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37AE1-EAFE-3A64-6323-2DC1486A3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9282-FB5B-B205-2D95-AF8F6B7CD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A62C7-A1B6-34EC-AEED-6396B134A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09FC1-B12C-2AB6-1D60-57240F738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1D297-47FB-831F-8D30-9B2C1F1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3E859-E7FD-D12E-91D3-3B97CD94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DFAF0-2827-EAD6-6276-592A5211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875AF-C02A-8ED8-F37C-B6138AAC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783C4-CC66-30D4-43BF-828F42D2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F0834-57DA-11D6-F6BF-6A60FFE2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5C70-FAD8-1711-E576-6DD3E79F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795C1-BC52-1E8C-475E-0C12BFCF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E56F-E073-9662-347C-E50A302C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AA3-FA19-A963-03A3-5D041F65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31A3-31A3-6BAB-05B0-1EEDA9D9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8A990-162E-0119-D629-CC0E5B012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BFF91-988B-3665-AC53-4C23CD7A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32BFC-DC4A-7D84-5CA1-AF5854E8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FD054-16D9-7151-3FBB-E69C45D7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C6B4-5AB2-4D0E-3B2F-F5CC9EFF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808A6-653E-92EF-84DE-34F58D5E9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B57D-8CF0-DFB5-72FC-10A26E54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16E7-DEA5-77E8-D4C1-75A560A6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C8801-835B-5E06-798C-AE5AEC5B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714C-EFE4-0809-BEEF-B6B676B6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7CB1-548A-8F52-0869-5A137BA3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5362D-9086-2ECE-CBA6-5D106DC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5B13F-1B13-4813-6EB2-3A1F6E0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911D-1575-8F51-C539-D141F8D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374F-ABB2-87AF-01DC-5D9AA22C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FE0B6-E684-077C-2300-BA4FD8404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1C142-3C69-B559-21F5-30180102C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F238-F233-B364-9368-76943FD67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40D6-685A-F18C-CFAE-CC54FD18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15537-1A60-0D62-6B34-EF325CEF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0C36F-75C9-637C-1447-C6F200B1D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1929-608E-2650-8EB3-4F2BDF20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4C1B4-B424-60C6-B250-F5B0DED82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09CE7-5706-4D5C-A567-25584FB180F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6A2C-9702-0D4B-B87E-B0AC7DD3A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E08A-14DA-BEEA-5210-CC0A66B16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B1093F-C6D9-4538-9D2B-965F65FBB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7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4D96-737F-73D7-580A-1AA100DB2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8335E-CF16-C843-40A2-4BCD9B7E8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071"/>
            <a:ext cx="9144000" cy="205311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 Guardians</a:t>
            </a:r>
          </a:p>
          <a:p>
            <a:r>
              <a:rPr lang="en-US" dirty="0"/>
              <a:t>Shamima Hossain, Ritesh Moon, Yuheng Zhao, Alexandra </a:t>
            </a:r>
            <a:r>
              <a:rPr lang="en-US" dirty="0" err="1"/>
              <a:t>Zienkiewic</a:t>
            </a:r>
            <a:r>
              <a:rPr lang="en-US" dirty="0"/>
              <a:t>, Mikaela Akrenius</a:t>
            </a:r>
          </a:p>
          <a:p>
            <a:endParaRPr lang="en-US" dirty="0"/>
          </a:p>
          <a:p>
            <a:r>
              <a:rPr lang="en-US" dirty="0"/>
              <a:t>ELLIS Summer School AI4Research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1FB32-CC34-83E5-15AB-4E681E1D9732}"/>
              </a:ext>
            </a:extLst>
          </p:cNvPr>
          <p:cNvSpPr txBox="1"/>
          <p:nvPr/>
        </p:nvSpPr>
        <p:spPr>
          <a:xfrm>
            <a:off x="1178560" y="1559471"/>
            <a:ext cx="104920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Trust the data? – Agentic Quality Control for Scientific Research</a:t>
            </a:r>
          </a:p>
          <a:p>
            <a:pPr algn="ctr"/>
            <a:r>
              <a:rPr lang="en-US" sz="2800" i="1" dirty="0"/>
              <a:t>A Case Study of Inattentive Responding in Behavioral Science</a:t>
            </a:r>
          </a:p>
        </p:txBody>
      </p:sp>
    </p:spTree>
    <p:extLst>
      <p:ext uri="{BB962C8B-B14F-4D97-AF65-F5344CB8AC3E}">
        <p14:creationId xmlns:p14="http://schemas.microsoft.com/office/powerpoint/2010/main" val="377205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486A-5280-804C-9F45-4FBA17F9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34130-6F51-319E-AB05-DC86AA082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In the 21</a:t>
            </a:r>
            <a:r>
              <a:rPr lang="en-US" baseline="30000" dirty="0"/>
              <a:t>st</a:t>
            </a:r>
            <a:r>
              <a:rPr lang="en-US" dirty="0"/>
              <a:t> century, a plethora of sciences ranging from business and economics to experimental psychology and psychiatry rely on information gathered through online experiments</a:t>
            </a:r>
          </a:p>
          <a:p>
            <a:r>
              <a:rPr lang="en-US" dirty="0"/>
              <a:t>Benefits of online studies: At its best, online experiments can provide a way to collect data from hundreds of participants in a few hours or days whereas in the past it took weeks or months + gives access to participants from more diverse populations (e.g., undergrad students vs. participants from any country, profession, age group)</a:t>
            </a:r>
          </a:p>
          <a:p>
            <a:r>
              <a:rPr lang="en-US" dirty="0"/>
              <a:t>Main issue: data quality, leading to false conclusions</a:t>
            </a:r>
          </a:p>
          <a:p>
            <a:pPr lvl="1"/>
            <a:r>
              <a:rPr lang="en-US" dirty="0"/>
              <a:t>Participants multitask, get distracted -&gt; inattention to experiment/survey -&gt; inflated correlations, false negatives and positives</a:t>
            </a:r>
          </a:p>
          <a:p>
            <a:pPr lvl="1"/>
            <a:r>
              <a:rPr lang="en-US" dirty="0"/>
              <a:t>Participants maximize reward for completing a larger number of tasks more quickly instead of providing good quality data</a:t>
            </a:r>
          </a:p>
          <a:p>
            <a:pPr lvl="1"/>
            <a:r>
              <a:rPr lang="en-US" dirty="0"/>
              <a:t>Participants misunderstand instructions</a:t>
            </a:r>
          </a:p>
          <a:p>
            <a:pPr lvl="1"/>
            <a:endParaRPr lang="en-US" dirty="0"/>
          </a:p>
          <a:p>
            <a:r>
              <a:rPr lang="en-US" dirty="0"/>
              <a:t>These conclusions can be fatal in e.g., psychiatry</a:t>
            </a:r>
          </a:p>
          <a:p>
            <a:r>
              <a:rPr lang="en-US" dirty="0"/>
              <a:t>Assessing data quality without interacting with participants is difficult</a:t>
            </a:r>
          </a:p>
          <a:p>
            <a:r>
              <a:rPr lang="en-US" dirty="0"/>
              <a:t>Current state of the art: attention checks, task-based quality measures (e.g., accuracy), following threads on participant forums, developing statistical tools for specific experimental settings -&gt; slow process whereas data collection needs to be fast and participant strategies change quickly</a:t>
            </a:r>
          </a:p>
          <a:p>
            <a:r>
              <a:rPr lang="en-US" dirty="0"/>
              <a:t>Excluding participants from a study requires sturdy, pre-defined criteria</a:t>
            </a:r>
          </a:p>
          <a:p>
            <a:r>
              <a:rPr lang="en-US" dirty="0"/>
              <a:t>We need a fast, automated, justified process for detecting participants that provided poor quality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4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EAAF-A8B0-4352-771B-01C003EF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D169-36CF-10AD-BC03-6815E451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4957-A875-8571-C2CC-86F55B24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5265"/>
            <a:ext cx="10515600" cy="42016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Spurious correlations between poor task performance and symptom measures</a:t>
            </a:r>
          </a:p>
          <a:p>
            <a:r>
              <a:rPr lang="en-US" dirty="0"/>
              <a:t>Task measures: descriptive + model-based measures of performance in reinforcement learning task</a:t>
            </a:r>
          </a:p>
          <a:p>
            <a:r>
              <a:rPr lang="en-US" dirty="0"/>
              <a:t>Symptom measures: scales assessing psychiatric symptoms (e.g., depression, anxiety, worry)</a:t>
            </a:r>
          </a:p>
          <a:p>
            <a:r>
              <a:rPr lang="en-US" dirty="0"/>
              <a:t>Earlier work aimed to detect these based on task performance (e.g., accuracy) alone</a:t>
            </a:r>
          </a:p>
          <a:p>
            <a:r>
              <a:rPr lang="en-US" dirty="0"/>
              <a:t>Authors introduce novel measures based on responses in survey measures (e.g., coherence)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0782B-E63A-C4BB-C3D1-FC0105BC5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44"/>
          <a:stretch>
            <a:fillRect/>
          </a:stretch>
        </p:blipFill>
        <p:spPr>
          <a:xfrm>
            <a:off x="6263312" y="80545"/>
            <a:ext cx="5785517" cy="189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6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D546-AC09-B406-CEC8-629EBD1D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and Baseline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1FF7-B654-17AF-B24D-43F64F3D2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conditions for creating spurious correlations and presence of inattentive participants are also reflected in statistical properties of the data (e.g., skewed distributions, shifted means, outliers)</a:t>
            </a:r>
          </a:p>
          <a:p>
            <a:r>
              <a:rPr lang="en-US" dirty="0"/>
              <a:t>Could AI use baseline statistical properties of the data to trace the same participants that the researchers did using red flag heuristics? </a:t>
            </a:r>
          </a:p>
          <a:p>
            <a:r>
              <a:rPr lang="en-US" dirty="0"/>
              <a:t>Could AI be used more generally for tracing unreliable participants and/or results based on statistical information that humans did not take a look at?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40A5-DB89-FABE-A21D-958B2550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DC2E2-368D-0977-24F1-682ADB78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2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C980-4967-336D-608E-17707C02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724" y="365125"/>
            <a:ext cx="4627076" cy="1325563"/>
          </a:xfrm>
        </p:spPr>
        <p:txBody>
          <a:bodyPr>
            <a:normAutofit/>
          </a:bodyPr>
          <a:lstStyle/>
          <a:p>
            <a:r>
              <a:rPr lang="en-US" dirty="0"/>
              <a:t>Aggregate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91D0B-81A3-940C-524B-3868111B2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47"/>
          <a:stretch>
            <a:fillRect/>
          </a:stretch>
        </p:blipFill>
        <p:spPr>
          <a:xfrm>
            <a:off x="-136217" y="122372"/>
            <a:ext cx="6862941" cy="1903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A9537-B51A-4DE8-1B0F-8500DEA08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48" y="2144776"/>
            <a:ext cx="2469946" cy="17286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CFEB2D-F952-71DC-13DF-D1633CA17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145" y="2144775"/>
            <a:ext cx="2507289" cy="17286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3C200E-F168-C7BF-B599-C843E70A27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402" y="2144776"/>
            <a:ext cx="2479595" cy="17286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165C3A-42ED-134A-5A7B-CE48BAEDE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27" y="2144776"/>
            <a:ext cx="2488026" cy="17286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95FD99-A27B-1C2A-8EF7-99A4333B3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490" y="2157158"/>
            <a:ext cx="2496698" cy="17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1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2D6F-A32D-77F2-6EFC-8EDBBCB66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EE2B-14D2-F817-C8D6-39D5F7FD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0A2F-B6EB-D40B-8C20-B0C518DDC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24" y="1690688"/>
            <a:ext cx="10515600" cy="48388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Main results</a:t>
            </a:r>
          </a:p>
          <a:p>
            <a:pPr lvl="1"/>
            <a:r>
              <a:rPr lang="en-US" dirty="0"/>
              <a:t>As expected, LLM needed more than summary information from the data to exclude participants</a:t>
            </a:r>
          </a:p>
          <a:p>
            <a:pPr lvl="1"/>
            <a:r>
              <a:rPr lang="en-US" dirty="0"/>
              <a:t>As in paper, trial-level information from survey was more useful than trial-level information from task, and best results were achieved using both</a:t>
            </a:r>
          </a:p>
          <a:p>
            <a:pPr lvl="1"/>
            <a:r>
              <a:rPr lang="en-US" dirty="0"/>
              <a:t>When LLM was given exclusion metrics used in the paper it made more exclusions than the paper</a:t>
            </a:r>
          </a:p>
          <a:p>
            <a:r>
              <a:rPr lang="en-US" dirty="0"/>
              <a:t>Next steps</a:t>
            </a:r>
          </a:p>
          <a:p>
            <a:pPr lvl="1"/>
            <a:r>
              <a:rPr lang="en-US" dirty="0"/>
              <a:t>Ground truth – paper, AI, or something else?</a:t>
            </a:r>
          </a:p>
          <a:p>
            <a:pPr lvl="1"/>
            <a:r>
              <a:rPr lang="en-US" dirty="0"/>
              <a:t>What kinds of processes did the LLM engage in and what information did it use</a:t>
            </a:r>
          </a:p>
          <a:p>
            <a:pPr lvl="1"/>
            <a:r>
              <a:rPr lang="en-US" dirty="0"/>
              <a:t>Repeating process for other data reliability problems</a:t>
            </a:r>
          </a:p>
          <a:p>
            <a:pPr lvl="1"/>
            <a:r>
              <a:rPr lang="en-US" dirty="0"/>
              <a:t>Developing tool for research and/or deriving insight for research</a:t>
            </a:r>
          </a:p>
          <a:p>
            <a:r>
              <a:rPr lang="en-US" dirty="0"/>
              <a:t>Significance: increasing data quality -&gt; more accurate results -&gt; better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7591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FABC-2ECC-3A67-7C7C-EAC4FD7D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0653-AD58-BC1C-2088-903FFA0BC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24" y="365125"/>
            <a:ext cx="10714776" cy="1325563"/>
          </a:xfrm>
        </p:spPr>
        <p:txBody>
          <a:bodyPr/>
          <a:lstStyle/>
          <a:p>
            <a:r>
              <a:rPr lang="en-US" dirty="0"/>
              <a:t>Significance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5CAE82-2FBE-FECB-3846-61301E61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8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565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  </vt:lpstr>
      <vt:lpstr>Background</vt:lpstr>
      <vt:lpstr>Target Paper</vt:lpstr>
      <vt:lpstr>Hypothesis and Baseline for AI</vt:lpstr>
      <vt:lpstr>Methods</vt:lpstr>
      <vt:lpstr>Aggregate Results</vt:lpstr>
      <vt:lpstr>Results</vt:lpstr>
      <vt:lpstr>Significance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Mikaela Akrenius</dc:creator>
  <cp:lastModifiedBy>Mikaela Akrenius</cp:lastModifiedBy>
  <cp:revision>8</cp:revision>
  <dcterms:created xsi:type="dcterms:W3CDTF">2026-08-21T08:11:36Z</dcterms:created>
  <dcterms:modified xsi:type="dcterms:W3CDTF">2026-08-21T12:07:50Z</dcterms:modified>
</cp:coreProperties>
</file>