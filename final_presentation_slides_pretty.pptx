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spc="180">
                <a:solidFill>
                  <a:srgbClr val="B4741F"/>
                </a:solidFill>
                <a:latin typeface="Consolas"/>
              </a:rPr>
              <a:t>DATA GUARDIANS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95728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800" b="1">
                <a:solidFill>
                  <a:srgbClr val="0D141C"/>
                </a:solidFill>
                <a:latin typeface="Archivo"/>
              </a:rPr>
              <a:t>Trust the data? – Agentic Quality Control for Scientific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58768"/>
            <a:ext cx="2194560" cy="27432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96512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0">
                <a:solidFill>
                  <a:srgbClr val="3B4A59"/>
                </a:solidFill>
                <a:latin typeface="Archivo"/>
              </a:rPr>
              <a:t>A Case Study of Inattentive Responding in Behavioral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3B4A59"/>
                </a:solidFill>
                <a:latin typeface="Consolas"/>
              </a:rPr>
              <a:t>Shamima Hossain, Ritesh Moon, Yuheng Zhao, Alexandra Zienkiewic, Mikaela Akrenius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8134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20">
                <a:solidFill>
                  <a:srgbClr val="6B7A87"/>
                </a:solidFill>
                <a:latin typeface="Consolas"/>
              </a:rPr>
              <a:t>ELLIS Summer School AI4Research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60">
                <a:solidFill>
                  <a:srgbClr val="6B7A87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100" b="1">
                <a:solidFill>
                  <a:srgbClr val="0D141C"/>
                </a:solidFill>
                <a:latin typeface="Archivo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463040" cy="25603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85925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1627632"/>
            <a:ext cx="10369296" cy="2125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In the 21st century, a plethora of behavioral sciences rely on information gathered through online experiments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7395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1959102"/>
            <a:ext cx="10369296" cy="2125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Benefits: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2905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90572"/>
            <a:ext cx="10058400" cy="18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fast data collection, larger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52984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29840"/>
            <a:ext cx="10058400" cy="18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participants from more diverse populations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27401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2769108"/>
            <a:ext cx="10369296" cy="2125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Main issue: data quality, leading to false conclusions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10057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00578"/>
            <a:ext cx="10058400" cy="18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Participants multitask, get distracted -&gt; inattention to experiment/survey -&gt; inflated correlations, false negatives and positives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33984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39846"/>
            <a:ext cx="10058400" cy="18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Participants maximize reward for completing a larger number of tasks more quickly instead of providing good quality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579114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579114"/>
            <a:ext cx="10058400" cy="188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>
                <a:solidFill>
                  <a:srgbClr val="3B4A59"/>
                </a:solidFill>
                <a:latin typeface="Archivo"/>
              </a:rPr>
              <a:t>Participants misunderstand instructions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876674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3818382"/>
            <a:ext cx="10369296" cy="2125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Assessing data quality without interacting with participants is difficult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08145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3" y="4149852"/>
            <a:ext cx="10369296" cy="6377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Current state of the art: attention checks, task-based quality measures (e.g., accuracy), following threads on participant forums, developing statistical tools for specific experimental settings -&gt; slow process whereas data collection needs to be fast and participant strategies change quickly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64810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4906517"/>
            <a:ext cx="10369296" cy="2125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Excluding participants from a study requires sturdy, pre-defined criteria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96280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" y="5237987"/>
            <a:ext cx="10369296" cy="2125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We need a fast, automated, justified process for detecting participants that provided poor quality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60">
                <a:solidFill>
                  <a:srgbClr val="6B7A87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100" b="1">
                <a:solidFill>
                  <a:srgbClr val="0D141C"/>
                </a:solidFill>
                <a:latin typeface="Archivo"/>
              </a:rPr>
              <a:t>Target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463040" cy="25603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59077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1700784"/>
            <a:ext cx="5705856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Spurious correlations between poor task performance and symptom measures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03145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244852"/>
            <a:ext cx="5705856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Task measures: descriptive + model-based measures of performance in reinforcement learning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47213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2788920"/>
            <a:ext cx="5705856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Symptom measures: scales assessing psychiatric symptoms (e.g., depression, anxiety, worry)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91281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3332987"/>
            <a:ext cx="5705856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Earlier work aimed to detect these based on task performance (e.g., accuracy) alone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35348"/>
            <a:ext cx="77724" cy="7772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3877055"/>
            <a:ext cx="5705856" cy="425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Authors introduce novel measures based on responses in survey measures (e.g., coherence)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700784"/>
            <a:ext cx="43434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2121408"/>
            <a:ext cx="4050791" cy="22089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0" y="448056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50" b="0" spc="120">
                <a:solidFill>
                  <a:srgbClr val="6B7A87"/>
                </a:solidFill>
                <a:latin typeface="Consolas"/>
              </a:rPr>
              <a:t>ZOROWITZ ET AL.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60">
                <a:solidFill>
                  <a:srgbClr val="6B7A87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100" b="1">
                <a:solidFill>
                  <a:srgbClr val="0D141C"/>
                </a:solidFill>
                <a:latin typeface="Archivo"/>
              </a:rPr>
              <a:t>Hypothesis and Baseline for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463040" cy="25603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0607040" cy="975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5720" cy="97536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939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spc="130">
                <a:solidFill>
                  <a:srgbClr val="6B7A87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93976"/>
            <a:ext cx="950976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0">
                <a:solidFill>
                  <a:srgbClr val="0D141C"/>
                </a:solidFill>
                <a:latin typeface="Archivo"/>
              </a:rPr>
              <a:t>The conditions for creating spurious correlations and presence of inattentive participants are also reflected in statistical properties of the data (e.g., skewed distributions, shifted means, outliers)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87624"/>
            <a:ext cx="10607040" cy="975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087624"/>
            <a:ext cx="45720" cy="975360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307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spc="130">
                <a:solidFill>
                  <a:srgbClr val="6B7A87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07080"/>
            <a:ext cx="950976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0">
                <a:solidFill>
                  <a:srgbClr val="0D141C"/>
                </a:solidFill>
                <a:latin typeface="Archivo"/>
              </a:rPr>
              <a:t>Could AI use baseline statistical properties of the data to trace the same participants that the researchers did using red flag heuristics?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300728"/>
            <a:ext cx="10607040" cy="975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300728"/>
            <a:ext cx="45720" cy="975360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201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spc="130">
                <a:solidFill>
                  <a:srgbClr val="6B7A87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20184"/>
            <a:ext cx="950976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0">
                <a:solidFill>
                  <a:srgbClr val="0D141C"/>
                </a:solidFill>
                <a:latin typeface="Archivo"/>
              </a:rPr>
              <a:t>Could AI be used more generally for tracing unreliable participants and/or results based on statistical information that humans did not take a look at?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60">
                <a:solidFill>
                  <a:srgbClr val="6B7A87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100" b="1">
                <a:solidFill>
                  <a:srgbClr val="0D141C"/>
                </a:solidFill>
                <a:latin typeface="Archivo"/>
              </a:rPr>
              <a:t>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463040" cy="25603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spc="130">
                <a:solidFill>
                  <a:srgbClr val="6B7A87"/>
                </a:solidFill>
                <a:latin typeface="Consolas"/>
              </a:rPr>
              <a:t>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65376"/>
            <a:ext cx="274320" cy="274320"/>
          </a:xfrm>
          <a:prstGeom prst="rect">
            <a:avLst/>
          </a:prstGeom>
          <a:solidFill>
            <a:srgbClr val="0D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156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1">
                <a:solidFill>
                  <a:srgbClr val="F2F5F7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909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39696"/>
            <a:ext cx="4526280" cy="4960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63 Spearman correlations, 7 symptom scales x 9 task measures. Two-sided, p &lt; 0.05, deliberately uncorrected. The test prompt adds one sentence: exclude subjects that induce spurious correlations.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5404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D3DBE2"/>
                </a:solidFill>
                <a:latin typeface="Consolas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10078"/>
            <a:ext cx="274320" cy="274320"/>
          </a:xfrm>
          <a:prstGeom prst="rect">
            <a:avLst/>
          </a:prstGeom>
          <a:solidFill>
            <a:srgbClr val="0D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6037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1">
                <a:solidFill>
                  <a:srgbClr val="F2F5F7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379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84398"/>
            <a:ext cx="4526280" cy="330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Writes and executes its own Python. No fixed tool menu -- it inspects, revises and re-runs, so the path it takes is a result, not a setting.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3339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D3DBE2"/>
                </a:solidFill>
                <a:latin typeface="Consolas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89426"/>
            <a:ext cx="274320" cy="274320"/>
          </a:xfrm>
          <a:prstGeom prst="rect">
            <a:avLst/>
          </a:prstGeom>
          <a:solidFill>
            <a:srgbClr val="0D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3971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1">
                <a:solidFill>
                  <a:srgbClr val="F2F5F7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0314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63746"/>
            <a:ext cx="4526280" cy="330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Nine fields per step: phase, thought, action, observation, error, revision trigger, confidence, id, timestamp.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1274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>
                <a:solidFill>
                  <a:srgbClr val="D3DBE2"/>
                </a:solidFill>
                <a:latin typeface="Consolas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68774"/>
            <a:ext cx="274320" cy="274320"/>
          </a:xfrm>
          <a:prstGeom prst="rect">
            <a:avLst/>
          </a:prstGeom>
          <a:solidFill>
            <a:srgbClr val="0D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1906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200" b="1">
                <a:solidFill>
                  <a:srgbClr val="F2F5F7"/>
                </a:solidFill>
                <a:latin typeface="Consola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8249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>
                <a:solidFill>
                  <a:srgbClr val="0D141C"/>
                </a:solidFill>
                <a:latin typeface="Archivo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43094"/>
            <a:ext cx="4526280" cy="330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3B4A59"/>
                </a:solidFill>
                <a:latin typeface="Archivo"/>
              </a:rPr>
              <a:t>Against a deterministic reference analysis, and against the agent's own conclusion -- did it do what it said it did?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57276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spc="130">
                <a:solidFill>
                  <a:srgbClr val="6B7A87"/>
                </a:solidFill>
                <a:latin typeface="Consolas"/>
              </a:rPr>
              <a:t>FIVE CONDITIONS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8470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6B7A87"/>
                </a:solidFill>
                <a:latin typeface="Archivo"/>
              </a:rPr>
              <a:t>The prompt never changes. Only the evidence available for judging quality.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267712"/>
            <a:ext cx="5029200" cy="12801"/>
          </a:xfrm>
          <a:prstGeom prst="rect">
            <a:avLst/>
          </a:prstGeom>
          <a:solidFill>
            <a:srgbClr val="0D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37744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0D141C"/>
                </a:solidFill>
                <a:latin typeface="Consolas"/>
              </a:rPr>
              <a:t>TEST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377440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B4741F"/>
                </a:solidFill>
                <a:latin typeface="Consola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377440"/>
            <a:ext cx="2331720" cy="15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3B4A59"/>
                </a:solidFill>
                <a:latin typeface="Archivo"/>
              </a:rPr>
              <a:t>no basis to exclude at 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7614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0D141C"/>
                </a:solidFill>
                <a:latin typeface="Consolas"/>
              </a:rPr>
              <a:t>TEST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76148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B4741F"/>
                </a:solidFill>
                <a:latin typeface="Consolas"/>
              </a:rPr>
              <a:t>task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761488"/>
            <a:ext cx="2331720" cy="15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3B4A59"/>
                </a:solidFill>
                <a:latin typeface="Archivo"/>
              </a:rPr>
              <a:t>accuracy, response times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1455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0D141C"/>
                </a:solidFill>
                <a:latin typeface="Consolas"/>
              </a:rPr>
              <a:t>TEST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145536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B4741F"/>
                </a:solidFill>
                <a:latin typeface="Consolas"/>
              </a:rPr>
              <a:t>survey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45536"/>
            <a:ext cx="2331720" cy="15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3B4A59"/>
                </a:solidFill>
                <a:latin typeface="Archivo"/>
              </a:rPr>
              <a:t>per-item responses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5295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0D141C"/>
                </a:solidFill>
                <a:latin typeface="Consolas"/>
              </a:rPr>
              <a:t>TEST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529584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B4741F"/>
                </a:solidFill>
                <a:latin typeface="Consolas"/>
              </a:rPr>
              <a:t>task + survey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529584"/>
            <a:ext cx="2331720" cy="15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3B4A59"/>
                </a:solidFill>
                <a:latin typeface="Archivo"/>
              </a:rPr>
              <a:t>both proxies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91363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>
                <a:solidFill>
                  <a:srgbClr val="0D141C"/>
                </a:solidFill>
                <a:latin typeface="Consolas"/>
              </a:rPr>
              <a:t>TEST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9136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>
                <a:solidFill>
                  <a:srgbClr val="B4741F"/>
                </a:solidFill>
                <a:latin typeface="Consolas"/>
              </a:rPr>
              <a:t>+ 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913632"/>
            <a:ext cx="2331720" cy="15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3B4A59"/>
                </a:solidFill>
                <a:latin typeface="Archivo"/>
              </a:rPr>
              <a:t>the paper's own attention checks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251960"/>
            <a:ext cx="5029200" cy="12801"/>
          </a:xfrm>
          <a:prstGeom prst="rect">
            <a:avLst/>
          </a:prstGeom>
          <a:solidFill>
            <a:srgbClr val="D3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4074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6B7A87"/>
                </a:solidFill>
                <a:latin typeface="Archivo"/>
              </a:rPr>
              <a:t>TEST 1 has no basis for exclusion — declining to exclude is the correct answer.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760720"/>
            <a:ext cx="106070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5760720"/>
            <a:ext cx="45720" cy="786384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587959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0D141C"/>
                </a:solidFill>
                <a:latin typeface="Archivo"/>
              </a:rPr>
              <a:t>Controls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610819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3B4A59"/>
                </a:solidFill>
                <a:latin typeface="Archivo"/>
              </a:rPr>
              <a:t>Correlations always run on the same 386-subject table, so n is identical in every condition  ·  the paper's attention-check labels are held out and used only to score exclusions  ·  the reference analysis is deterministic (scipy), no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60">
                <a:solidFill>
                  <a:srgbClr val="6B7A87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100" b="1">
                <a:solidFill>
                  <a:srgbClr val="0D141C"/>
                </a:solidFill>
                <a:latin typeface="Archivo"/>
              </a:rPr>
              <a:t>Aggregate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463040" cy="25603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spc="130">
                <a:solidFill>
                  <a:srgbClr val="6B7A87"/>
                </a:solidFill>
                <a:latin typeface="Consolas"/>
              </a:rPr>
              <a:t>REFERENCE — ZOROWITZ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65376"/>
            <a:ext cx="6263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3B4A59"/>
                </a:solidFill>
                <a:latin typeface="Archivo"/>
              </a:rPr>
              <a:t>The paper's own result: </a:t>
            </a:r>
            <a:r>
              <a:rPr sz="1250" b="1">
                <a:solidFill>
                  <a:srgbClr val="0D141C"/>
                </a:solidFill>
                <a:latin typeface="Archivo"/>
              </a:rPr>
              <a:t>correlations that look significant under no screening largely vanish once inattentive participants are removed.</a:t>
            </a:r>
            <a:r>
              <a:rPr sz="1250" b="0">
                <a:solidFill>
                  <a:srgbClr val="3B4A59"/>
                </a:solidFill>
                <a:latin typeface="Archivo"/>
              </a:rPr>
              <a:t>  Our five conditions reproduce that sweep while varying only how much evidence the agent has for spotting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810512"/>
            <a:ext cx="4023360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1874519"/>
            <a:ext cx="3858768" cy="16127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7240" y="3291840"/>
            <a:ext cx="10607040" cy="12801"/>
          </a:xfrm>
          <a:prstGeom prst="rect">
            <a:avLst/>
          </a:prstGeom>
          <a:solidFill>
            <a:srgbClr val="D3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3814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spc="130">
                <a:solidFill>
                  <a:srgbClr val="6B7A87"/>
                </a:solidFill>
                <a:latin typeface="Consolas"/>
              </a:rPr>
              <a:t>OURS — SIGNIFICANT CORRELATIONS REMAINING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75887"/>
            <a:ext cx="20482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p_s6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3739896"/>
            <a:ext cx="1920240" cy="147025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394960"/>
            <a:ext cx="20482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100" b="1">
                <a:solidFill>
                  <a:srgbClr val="0D141C"/>
                </a:solidFill>
                <a:latin typeface="Consolas"/>
              </a:rPr>
              <a:t>25</a:t>
            </a:r>
            <a:r>
              <a:rPr sz="1200" b="0">
                <a:solidFill>
                  <a:srgbClr val="6B7A87"/>
                </a:solidFill>
                <a:latin typeface="Consolas"/>
              </a:rPr>
              <a:t>/63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9729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50" b="1" spc="110">
                <a:solidFill>
                  <a:srgbClr val="3B4A59"/>
                </a:solidFill>
                <a:latin typeface="Consolas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16752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>
                <a:solidFill>
                  <a:srgbClr val="6B7A87"/>
                </a:solidFill>
                <a:latin typeface="Archivo"/>
              </a:rPr>
              <a:t>no screening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16936" y="3675887"/>
            <a:ext cx="20482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rop_s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3739896"/>
            <a:ext cx="1920240" cy="14498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16936" y="5394960"/>
            <a:ext cx="20482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100" b="1">
                <a:solidFill>
                  <a:srgbClr val="0D141C"/>
                </a:solidFill>
                <a:latin typeface="Consolas"/>
              </a:rPr>
              <a:t>13</a:t>
            </a:r>
            <a:r>
              <a:rPr sz="1200" b="0">
                <a:solidFill>
                  <a:srgbClr val="6B7A87"/>
                </a:solidFill>
                <a:latin typeface="Consolas"/>
              </a:rPr>
              <a:t>/63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579729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50" b="1" spc="110">
                <a:solidFill>
                  <a:srgbClr val="3B4A59"/>
                </a:solidFill>
                <a:latin typeface="Consolas"/>
              </a:rPr>
              <a:t>TEST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6016752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>
                <a:solidFill>
                  <a:srgbClr val="6B7A87"/>
                </a:solidFill>
                <a:latin typeface="Archivo"/>
              </a:rPr>
              <a:t>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56632" y="3675887"/>
            <a:ext cx="20482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rop_s6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739896"/>
            <a:ext cx="1920240" cy="14631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56632" y="5394960"/>
            <a:ext cx="20482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100" b="1">
                <a:solidFill>
                  <a:srgbClr val="0D141C"/>
                </a:solidFill>
                <a:latin typeface="Consolas"/>
              </a:rPr>
              <a:t>23</a:t>
            </a:r>
            <a:r>
              <a:rPr sz="1200" b="0">
                <a:solidFill>
                  <a:srgbClr val="6B7A87"/>
                </a:solidFill>
                <a:latin typeface="Consolas"/>
              </a:rPr>
              <a:t>/63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579729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50" b="1" spc="110">
                <a:solidFill>
                  <a:srgbClr val="3B4A59"/>
                </a:solidFill>
                <a:latin typeface="Consolas"/>
              </a:rPr>
              <a:t>TEST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6016752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>
                <a:solidFill>
                  <a:srgbClr val="6B7A87"/>
                </a:solidFill>
                <a:latin typeface="Archivo"/>
              </a:rPr>
              <a:t>survey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96328" y="3675887"/>
            <a:ext cx="20482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rop_s6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3739896"/>
            <a:ext cx="1920240" cy="145880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96328" y="5394960"/>
            <a:ext cx="20482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100" b="1">
                <a:solidFill>
                  <a:srgbClr val="0D141C"/>
                </a:solidFill>
                <a:latin typeface="Consolas"/>
              </a:rPr>
              <a:t>13</a:t>
            </a:r>
            <a:r>
              <a:rPr sz="1200" b="0">
                <a:solidFill>
                  <a:srgbClr val="6B7A87"/>
                </a:solidFill>
                <a:latin typeface="Consolas"/>
              </a:rPr>
              <a:t>/63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579729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50" b="1" spc="110">
                <a:solidFill>
                  <a:srgbClr val="3B4A59"/>
                </a:solidFill>
                <a:latin typeface="Consolas"/>
              </a:rPr>
              <a:t>TEST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6016752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>
                <a:solidFill>
                  <a:srgbClr val="6B7A87"/>
                </a:solidFill>
                <a:latin typeface="Archivo"/>
              </a:rPr>
              <a:t>task + survey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36024" y="3675887"/>
            <a:ext cx="20482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2F7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rop_s6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0032" y="3739896"/>
            <a:ext cx="1920240" cy="14431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36024" y="5394960"/>
            <a:ext cx="20482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100" b="1">
                <a:solidFill>
                  <a:srgbClr val="2F7565"/>
                </a:solidFill>
                <a:latin typeface="Consolas"/>
              </a:rPr>
              <a:t>11</a:t>
            </a:r>
            <a:r>
              <a:rPr sz="1200" b="0">
                <a:solidFill>
                  <a:srgbClr val="6B7A87"/>
                </a:solidFill>
                <a:latin typeface="Consolas"/>
              </a:rPr>
              <a:t>/63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5797296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50" b="1" spc="110">
                <a:solidFill>
                  <a:srgbClr val="0D141C"/>
                </a:solidFill>
                <a:latin typeface="Consolas"/>
              </a:rPr>
              <a:t>TEST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6016752"/>
            <a:ext cx="20482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>
                <a:solidFill>
                  <a:srgbClr val="6B7A87"/>
                </a:solidFill>
                <a:latin typeface="Archivo"/>
              </a:rPr>
              <a:t>+ metrics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327648"/>
            <a:ext cx="10607040" cy="12801"/>
          </a:xfrm>
          <a:prstGeom prst="rect">
            <a:avLst/>
          </a:prstGeom>
          <a:solidFill>
            <a:srgbClr val="D3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0D141C"/>
                </a:solidFill>
                <a:latin typeface="Archivo"/>
              </a:rPr>
              <a:t>~3 of 63 are expected by chance.</a:t>
            </a:r>
            <a:r>
              <a:rPr sz="1050" b="0">
                <a:solidFill>
                  <a:srgbClr val="3B4A59"/>
                </a:solidFill>
                <a:latin typeface="Archivo"/>
              </a:rPr>
              <a:t>  Excluding the 85 who failed an attention check leaves 11 — fourteen findings do not survive quality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60">
                <a:solidFill>
                  <a:srgbClr val="6B7A87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100" b="1">
                <a:solidFill>
                  <a:srgbClr val="0D141C"/>
                </a:solidFill>
                <a:latin typeface="Archivo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463040" cy="25603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1">
                <a:solidFill>
                  <a:srgbClr val="0D141C"/>
                </a:solidFill>
                <a:latin typeface="Archivo"/>
              </a:rPr>
              <a:t>Main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56816"/>
            <a:ext cx="1005840" cy="20116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1396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9696"/>
            <a:ext cx="4480560" cy="409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3B4A59"/>
                </a:solidFill>
                <a:latin typeface="Archivo"/>
              </a:rPr>
              <a:t>As expected, LLM needed more than summary information from the data to exclude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32024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32024"/>
            <a:ext cx="4480560" cy="614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3B4A59"/>
                </a:solidFill>
                <a:latin typeface="Archivo"/>
              </a:rPr>
              <a:t>As in paper, trial-level information from survey was more useful than trial-level information from task, and best results were achieved using both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2907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29076"/>
            <a:ext cx="4480560" cy="409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3B4A59"/>
                </a:solidFill>
                <a:latin typeface="Archivo"/>
              </a:rPr>
              <a:t>When LLM was given exclusion metrics used in the paper it made more exclusions than the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1">
                <a:solidFill>
                  <a:srgbClr val="0D141C"/>
                </a:solidFill>
                <a:latin typeface="Archivo"/>
              </a:rPr>
              <a:t>Next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56816"/>
            <a:ext cx="1005840" cy="20116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21396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39696"/>
            <a:ext cx="4434840" cy="204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3B4A59"/>
                </a:solidFill>
                <a:latin typeface="Archivo"/>
              </a:rPr>
              <a:t>Ground truth – paper, AI, or something else?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52730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27300"/>
            <a:ext cx="4434840" cy="409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3B4A59"/>
                </a:solidFill>
                <a:latin typeface="Archivo"/>
              </a:rPr>
              <a:t>What kinds of processes did the LLM engage in and what information did it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11962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119628"/>
            <a:ext cx="4434840" cy="204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3B4A59"/>
                </a:solidFill>
                <a:latin typeface="Archivo"/>
              </a:rPr>
              <a:t>Repeating process for other data reliability problems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50723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6B7A87"/>
                </a:solidFill>
                <a:latin typeface="Consolas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507232"/>
            <a:ext cx="4434840" cy="409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3B4A59"/>
                </a:solidFill>
                <a:latin typeface="Archivo"/>
              </a:rPr>
              <a:t>Developing tool for research and/or deriving insight for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spc="160">
                <a:solidFill>
                  <a:srgbClr val="6B7A87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100" b="1">
                <a:solidFill>
                  <a:srgbClr val="0D141C"/>
                </a:solidFill>
                <a:latin typeface="Archivo"/>
              </a:rPr>
              <a:t>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463040" cy="25603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77440"/>
            <a:ext cx="10607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54864" cy="1737360"/>
          </a:xfrm>
          <a:prstGeom prst="rect">
            <a:avLst/>
          </a:prstGeom>
          <a:solidFill>
            <a:srgbClr val="2F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889504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700" b="1">
                <a:solidFill>
                  <a:srgbClr val="0D141C"/>
                </a:solidFill>
                <a:latin typeface="Archivo"/>
              </a:rPr>
              <a:t>Better participants, better science – more reliable results and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