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B47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84831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spc="160">
                <a:solidFill>
                  <a:srgbClr val="6B7A87"/>
                </a:solidFill>
                <a:latin typeface="Consolas"/>
              </a:rPr>
              <a:t>ELLIS SUMMER SCHOOL AI4RESEARCH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78608"/>
            <a:ext cx="106984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4000" b="1">
                <a:solidFill>
                  <a:srgbClr val="0D141C"/>
                </a:solidFill>
                <a:latin typeface="Archivo"/>
              </a:rPr>
              <a:t>Trust the data? – Agentic Quality Control for Scientific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986784"/>
            <a:ext cx="2377440" cy="27432"/>
          </a:xfrm>
          <a:prstGeom prst="rect">
            <a:avLst/>
          </a:prstGeom>
          <a:solidFill>
            <a:srgbClr val="B47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24528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0">
                <a:solidFill>
                  <a:srgbClr val="3B4A59"/>
                </a:solidFill>
                <a:latin typeface="Archivo"/>
              </a:rPr>
              <a:t>A Case Study of Inattentive Responding in Behavioral Science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05332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7A87"/>
                </a:solidFill>
                <a:latin typeface="Consolas"/>
              </a:rPr>
              <a:t>Shamima Hossain, Ritesh Moon, Yuheng Zhao, Alexandra Zienkiewic, Mikaela Akrenius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B47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spc="160">
                <a:solidFill>
                  <a:srgbClr val="6B7A87"/>
                </a:solidFill>
                <a:latin typeface="Consolas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5486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1">
                <a:solidFill>
                  <a:srgbClr val="0D141C"/>
                </a:solidFill>
                <a:latin typeface="Archivo"/>
              </a:rPr>
              <a:t>Background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64208"/>
            <a:ext cx="1645920" cy="27432"/>
          </a:xfrm>
          <a:prstGeom prst="rect">
            <a:avLst/>
          </a:prstGeom>
          <a:solidFill>
            <a:srgbClr val="B47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7692"/>
            <a:ext cx="77724" cy="77724"/>
          </a:xfrm>
          <a:prstGeom prst="rect">
            <a:avLst/>
          </a:prstGeom>
          <a:solidFill>
            <a:srgbClr val="B47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416" y="2029968"/>
            <a:ext cx="5815583" cy="468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0D141C"/>
                </a:solidFill>
                <a:latin typeface="Archivo"/>
              </a:rPr>
              <a:t>Problem: detecting spurious correlations caused by inattentive participants in online data on human subjects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626868"/>
            <a:ext cx="77724" cy="77724"/>
          </a:xfrm>
          <a:prstGeom prst="rect">
            <a:avLst/>
          </a:prstGeom>
          <a:solidFill>
            <a:srgbClr val="B47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549144"/>
            <a:ext cx="5815583" cy="23444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0D141C"/>
                </a:solidFill>
                <a:latin typeface="Archivo"/>
              </a:rPr>
              <a:t>Target paper: Zorowitz et al. (2023)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833878"/>
            <a:ext cx="1645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7A87"/>
                </a:solidFill>
                <a:latin typeface="Consolas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833878"/>
            <a:ext cx="5532120" cy="2164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3B4A59"/>
                </a:solidFill>
                <a:latin typeface="Archivo"/>
              </a:rPr>
              <a:t>reinforcement learning task measures x psychiatric survey measures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100578"/>
            <a:ext cx="1645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7A87"/>
                </a:solidFill>
                <a:latin typeface="Consolas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3100578"/>
            <a:ext cx="5532120" cy="4328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3B4A59"/>
                </a:solidFill>
                <a:latin typeface="Archivo"/>
              </a:rPr>
              <a:t>detecting and eliminating inattentive participants using task- and survey-based data quality metrics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61410"/>
            <a:ext cx="77724" cy="77724"/>
          </a:xfrm>
          <a:prstGeom prst="rect">
            <a:avLst/>
          </a:prstGeom>
          <a:solidFill>
            <a:srgbClr val="B47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3583686"/>
            <a:ext cx="5815583" cy="7033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0D141C"/>
                </a:solidFill>
                <a:latin typeface="Archivo"/>
              </a:rPr>
              <a:t>Research question: Can a LLM recognize and exclude the same participants based on statistical information alone – without information from the paper?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415028"/>
            <a:ext cx="77724" cy="77724"/>
          </a:xfrm>
          <a:prstGeom prst="rect">
            <a:avLst/>
          </a:prstGeom>
          <a:solidFill>
            <a:srgbClr val="B47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6" y="4337304"/>
            <a:ext cx="5815583" cy="23444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0D141C"/>
                </a:solidFill>
                <a:latin typeface="Archivo"/>
              </a:rPr>
              <a:t>Method: simple prompt + subsets of 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622038"/>
            <a:ext cx="1645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7A87"/>
                </a:solidFill>
                <a:latin typeface="Consolas"/>
              </a:rPr>
              <a:t>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622038"/>
            <a:ext cx="5532120" cy="4328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3B4A59"/>
                </a:solidFill>
                <a:latin typeface="Archivo"/>
              </a:rPr>
              <a:t>measures only + trial-level task data + trial-level survey data + both + metrics from from paper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78040" y="1874519"/>
            <a:ext cx="420624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D3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s2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2286000"/>
            <a:ext cx="3931920" cy="214409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178040" y="4553712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0" spc="120">
                <a:solidFill>
                  <a:srgbClr val="6B7A87"/>
                </a:solidFill>
                <a:latin typeface="Consolas"/>
              </a:rPr>
              <a:t>ZOROWITZ ET AL. (2023)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B47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1089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spc="160">
                <a:solidFill>
                  <a:srgbClr val="6B7A87"/>
                </a:solidFill>
                <a:latin typeface="Consolas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85216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1">
                <a:solidFill>
                  <a:srgbClr val="0D141C"/>
                </a:solidFill>
                <a:latin typeface="Archivo"/>
              </a:rPr>
              <a:t>Methods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3B4A59"/>
                </a:solidFill>
                <a:latin typeface="Archivo"/>
              </a:rPr>
              <a:t>One prompt, one fixed correlation table, five levels of evidence. Only what the agent can learn about data quality changes.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55648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spc="130">
                <a:solidFill>
                  <a:srgbClr val="6B7A87"/>
                </a:solidFill>
                <a:latin typeface="Consolas"/>
              </a:rPr>
              <a:t>PIPELINE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048256"/>
            <a:ext cx="274320" cy="274320"/>
          </a:xfrm>
          <a:prstGeom prst="rect">
            <a:avLst/>
          </a:prstGeom>
          <a:solidFill>
            <a:srgbClr val="0D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98548"/>
            <a:ext cx="274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1">
                <a:solidFill>
                  <a:srgbClr val="F2F5F7"/>
                </a:solidFill>
                <a:latin typeface="Consola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25296" y="2057400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0D141C"/>
                </a:solidFill>
                <a:latin typeface="Archivo"/>
              </a:rPr>
              <a:t>Prompt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5296" y="2304288"/>
            <a:ext cx="4617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3B4A59"/>
                </a:solidFill>
                <a:latin typeface="Archivo"/>
              </a:rPr>
              <a:t>63 Spearman correlations, two-sided, p &lt; 0.05, uncorrected. Plus: exclude subjects that induce spurious correlations.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633472"/>
            <a:ext cx="274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D3DBE2"/>
                </a:solidFill>
                <a:latin typeface="Consolas"/>
              </a:rPr>
              <a:t>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907792"/>
            <a:ext cx="274320" cy="274320"/>
          </a:xfrm>
          <a:prstGeom prst="rect">
            <a:avLst/>
          </a:prstGeom>
          <a:solidFill>
            <a:srgbClr val="0D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958084"/>
            <a:ext cx="274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1">
                <a:solidFill>
                  <a:srgbClr val="F2F5F7"/>
                </a:solidFill>
                <a:latin typeface="Consola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2916936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0D141C"/>
                </a:solidFill>
                <a:latin typeface="Archivo"/>
              </a:rPr>
              <a:t>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3163824"/>
            <a:ext cx="4617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3B4A59"/>
                </a:solidFill>
                <a:latin typeface="Archivo"/>
              </a:rPr>
              <a:t>Writes and executes its own Python. Free to inspect, revise, and re-run; nothing about the order is fixed.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3493008"/>
            <a:ext cx="274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D3DBE2"/>
                </a:solidFill>
                <a:latin typeface="Consolas"/>
              </a:rPr>
              <a:t>↓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767328"/>
            <a:ext cx="274320" cy="274320"/>
          </a:xfrm>
          <a:prstGeom prst="rect">
            <a:avLst/>
          </a:prstGeom>
          <a:solidFill>
            <a:srgbClr val="0D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817620"/>
            <a:ext cx="274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1">
                <a:solidFill>
                  <a:srgbClr val="F2F5F7"/>
                </a:solidFill>
                <a:latin typeface="Consola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" y="3776472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0D141C"/>
                </a:solidFill>
                <a:latin typeface="Archivo"/>
              </a:rPr>
              <a:t>Trace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5296" y="4023360"/>
            <a:ext cx="4617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3B4A59"/>
                </a:solidFill>
                <a:latin typeface="Archivo"/>
              </a:rPr>
              <a:t>9 fields per step: phase, thought, action, observation, error, revision trigger, confidence, id, timestamp.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352544"/>
            <a:ext cx="274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D3DBE2"/>
                </a:solidFill>
                <a:latin typeface="Consolas"/>
              </a:rPr>
              <a:t>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626864"/>
            <a:ext cx="274320" cy="274320"/>
          </a:xfrm>
          <a:prstGeom prst="rect">
            <a:avLst/>
          </a:prstGeom>
          <a:solidFill>
            <a:srgbClr val="0D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677156"/>
            <a:ext cx="274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1">
                <a:solidFill>
                  <a:srgbClr val="F2F5F7"/>
                </a:solidFill>
                <a:latin typeface="Consola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25296" y="4636008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0D141C"/>
                </a:solidFill>
                <a:latin typeface="Archivo"/>
              </a:rPr>
              <a:t>Score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25296" y="4882896"/>
            <a:ext cx="4617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3B4A59"/>
                </a:solidFill>
                <a:latin typeface="Archivo"/>
              </a:rPr>
              <a:t>Compared against a deterministic reference analysis, and against what the agent's own conclusion claimed.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755648"/>
            <a:ext cx="4983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spc="130">
                <a:solidFill>
                  <a:srgbClr val="6B7A87"/>
                </a:solidFill>
                <a:latin typeface="Consolas"/>
              </a:rPr>
              <a:t>FIVE CONDITIONS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60920" y="2048256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spc="110">
                <a:solidFill>
                  <a:srgbClr val="6B7A87"/>
                </a:solidFill>
                <a:latin typeface="Consolas"/>
              </a:rPr>
              <a:t>EVIDENCE ADDED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52560" y="2048256"/>
            <a:ext cx="2331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spc="110">
                <a:solidFill>
                  <a:srgbClr val="6B7A87"/>
                </a:solidFill>
                <a:latin typeface="Consolas"/>
              </a:rPr>
              <a:t>WHAT IT ALLOWS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2286000"/>
            <a:ext cx="4983480" cy="12801"/>
          </a:xfrm>
          <a:prstGeom prst="rect">
            <a:avLst/>
          </a:prstGeom>
          <a:solidFill>
            <a:srgbClr val="0D1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239572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D141C"/>
                </a:solidFill>
                <a:latin typeface="Consolas"/>
              </a:rPr>
              <a:t>TEST 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60920" y="2395728"/>
            <a:ext cx="16002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B4741F"/>
                </a:solidFill>
                <a:latin typeface="Consolas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52560" y="2395728"/>
            <a:ext cx="2331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3B4A59"/>
                </a:solidFill>
                <a:latin typeface="Archivo"/>
              </a:rPr>
              <a:t>nothing to judge quality with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2798064"/>
            <a:ext cx="914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D141C"/>
                </a:solidFill>
                <a:latin typeface="Consolas"/>
              </a:rPr>
              <a:t>TEST 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60920" y="2798064"/>
            <a:ext cx="16002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B4741F"/>
                </a:solidFill>
                <a:latin typeface="Consolas"/>
              </a:rPr>
              <a:t>task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52560" y="2798064"/>
            <a:ext cx="2331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3B4A59"/>
                </a:solidFill>
                <a:latin typeface="Archivo"/>
              </a:rPr>
              <a:t>accuracy, response times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3200400"/>
            <a:ext cx="914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D141C"/>
                </a:solidFill>
                <a:latin typeface="Consolas"/>
              </a:rPr>
              <a:t>TEST 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60920" y="3200400"/>
            <a:ext cx="16002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B4741F"/>
                </a:solidFill>
                <a:latin typeface="Consolas"/>
              </a:rPr>
              <a:t>survey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2560" y="3200400"/>
            <a:ext cx="2331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3B4A59"/>
                </a:solidFill>
                <a:latin typeface="Archivo"/>
              </a:rPr>
              <a:t>per-item responses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3602736"/>
            <a:ext cx="914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D141C"/>
                </a:solidFill>
                <a:latin typeface="Consolas"/>
              </a:rPr>
              <a:t>TEST 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60920" y="3602736"/>
            <a:ext cx="16002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B4741F"/>
                </a:solidFill>
                <a:latin typeface="Consolas"/>
              </a:rPr>
              <a:t>task + survey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52560" y="3602736"/>
            <a:ext cx="2331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3B4A59"/>
                </a:solidFill>
                <a:latin typeface="Archivo"/>
              </a:rPr>
              <a:t>both proxies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005072"/>
            <a:ext cx="914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D141C"/>
                </a:solidFill>
                <a:latin typeface="Consolas"/>
              </a:rPr>
              <a:t>TEST 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60920" y="4005072"/>
            <a:ext cx="16002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B4741F"/>
                </a:solidFill>
                <a:latin typeface="Consolas"/>
              </a:rPr>
              <a:t>+ metrics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52560" y="4005072"/>
            <a:ext cx="2331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3B4A59"/>
                </a:solidFill>
                <a:latin typeface="Archivo"/>
              </a:rPr>
              <a:t>the study's own attention checks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00800" y="4352544"/>
            <a:ext cx="4983480" cy="12801"/>
          </a:xfrm>
          <a:prstGeom prst="rect">
            <a:avLst/>
          </a:prstGeom>
          <a:solidFill>
            <a:srgbClr val="D3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0" y="4535424"/>
            <a:ext cx="4983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7A87"/>
                </a:solidFill>
                <a:latin typeface="Archivo"/>
              </a:rPr>
              <a:t>Difficulty falls from TEST 1 to TEST 5. TEST 1 has no basis for exclusion at all — declining to exclude is the correct answer there.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22960" y="5742432"/>
            <a:ext cx="1056132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3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22960" y="5742432"/>
            <a:ext cx="45720" cy="822960"/>
          </a:xfrm>
          <a:prstGeom prst="rect">
            <a:avLst/>
          </a:prstGeom>
          <a:solidFill>
            <a:srgbClr val="B47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42415" y="5870448"/>
            <a:ext cx="101498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>
                <a:solidFill>
                  <a:srgbClr val="0D141C"/>
                </a:solidFill>
                <a:latin typeface="Archivo"/>
              </a:rPr>
              <a:t>Controls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42415" y="6108192"/>
            <a:ext cx="10149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3B4A59"/>
                </a:solidFill>
                <a:latin typeface="Archivo"/>
              </a:rPr>
              <a:t>Correlations always run on the same 386-subject table, so n is identical in every condition  ·  the study's own attention-check labels are held out and used only to score exclusions  ·  the reference analysis is deterministic (scipy), no model involved.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2F75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1089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spc="160">
                <a:solidFill>
                  <a:srgbClr val="6B7A87"/>
                </a:solidFill>
                <a:latin typeface="Consolas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85216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1">
                <a:solidFill>
                  <a:srgbClr val="0D141C"/>
                </a:solidFill>
                <a:latin typeface="Archivo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18120" y="384048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spc="130">
                <a:solidFill>
                  <a:srgbClr val="6B7A87"/>
                </a:solidFill>
                <a:latin typeface="Consolas"/>
              </a:rPr>
              <a:t>REFERENCE — PAPER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658368"/>
            <a:ext cx="361188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3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3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272" y="722376"/>
            <a:ext cx="3474720" cy="145221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19751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spc="130">
                <a:solidFill>
                  <a:srgbClr val="6B7A87"/>
                </a:solidFill>
                <a:latin typeface="Consolas"/>
              </a:rPr>
              <a:t>OURS — FIVE DATA CONDITIONS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231136"/>
            <a:ext cx="2084831" cy="1426464"/>
          </a:xfrm>
          <a:prstGeom prst="rect">
            <a:avLst/>
          </a:prstGeom>
          <a:solidFill>
            <a:srgbClr val="FFFFFF"/>
          </a:solidFill>
          <a:ln w="9525">
            <a:solidFill>
              <a:srgbClr val="D3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3_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276856"/>
            <a:ext cx="1993391" cy="139515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2960" y="3694176"/>
            <a:ext cx="208483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spc="110">
                <a:solidFill>
                  <a:srgbClr val="6B7A87"/>
                </a:solidFill>
                <a:latin typeface="Consolas"/>
              </a:rPr>
              <a:t>BASELINE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08375" y="2231136"/>
            <a:ext cx="2084831" cy="1426464"/>
          </a:xfrm>
          <a:prstGeom prst="rect">
            <a:avLst/>
          </a:prstGeom>
          <a:solidFill>
            <a:srgbClr val="FFFFFF"/>
          </a:solidFill>
          <a:ln w="9525">
            <a:solidFill>
              <a:srgbClr val="D3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3_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54095" y="2276856"/>
            <a:ext cx="1993391" cy="137437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008375" y="3694176"/>
            <a:ext cx="208483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spc="110">
                <a:solidFill>
                  <a:srgbClr val="6B7A87"/>
                </a:solidFill>
                <a:latin typeface="Consolas"/>
              </a:rPr>
              <a:t>TEST 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93792" y="2231136"/>
            <a:ext cx="2084831" cy="1426464"/>
          </a:xfrm>
          <a:prstGeom prst="rect">
            <a:avLst/>
          </a:prstGeom>
          <a:solidFill>
            <a:srgbClr val="FFFFFF"/>
          </a:solidFill>
          <a:ln w="9525">
            <a:solidFill>
              <a:srgbClr val="D3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3_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39512" y="2276856"/>
            <a:ext cx="1993391" cy="138972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193792" y="3694176"/>
            <a:ext cx="208483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spc="110">
                <a:solidFill>
                  <a:srgbClr val="6B7A87"/>
                </a:solidFill>
                <a:latin typeface="Consolas"/>
              </a:rPr>
              <a:t>TEST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79207" y="2231136"/>
            <a:ext cx="2084831" cy="1426464"/>
          </a:xfrm>
          <a:prstGeom prst="rect">
            <a:avLst/>
          </a:prstGeom>
          <a:solidFill>
            <a:srgbClr val="FFFFFF"/>
          </a:solidFill>
          <a:ln w="9525">
            <a:solidFill>
              <a:srgbClr val="D3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s3_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24927" y="2276856"/>
            <a:ext cx="1993391" cy="138501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379207" y="3694176"/>
            <a:ext cx="208483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spc="110">
                <a:solidFill>
                  <a:srgbClr val="6B7A87"/>
                </a:solidFill>
                <a:latin typeface="Consolas"/>
              </a:rPr>
              <a:t>TEST 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564624" y="2231136"/>
            <a:ext cx="2084831" cy="1426464"/>
          </a:xfrm>
          <a:prstGeom prst="rect">
            <a:avLst/>
          </a:prstGeom>
          <a:solidFill>
            <a:srgbClr val="FFFFFF"/>
          </a:solidFill>
          <a:ln w="9525">
            <a:solidFill>
              <a:srgbClr val="D3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s3_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10344" y="2276856"/>
            <a:ext cx="1993391" cy="137032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564624" y="3694176"/>
            <a:ext cx="208483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spc="110">
                <a:solidFill>
                  <a:srgbClr val="6B7A87"/>
                </a:solidFill>
                <a:latin typeface="Consolas"/>
              </a:rPr>
              <a:t>TEST 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4005072"/>
            <a:ext cx="10561320" cy="18288"/>
          </a:xfrm>
          <a:prstGeom prst="rect">
            <a:avLst/>
          </a:prstGeom>
          <a:solidFill>
            <a:srgbClr val="D3D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18795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0D141C"/>
                </a:solidFill>
                <a:latin typeface="Archivo"/>
              </a:rPr>
              <a:t>Main results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4517136"/>
            <a:ext cx="1645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7A87"/>
                </a:solidFill>
                <a:latin typeface="Consolas"/>
              </a:rPr>
              <a:t>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4517136"/>
            <a:ext cx="4526280" cy="378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3B4A59"/>
                </a:solidFill>
                <a:latin typeface="Archivo"/>
              </a:rPr>
              <a:t>As expected, LLM needed more than summary information from the data to exclude participants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4932426"/>
            <a:ext cx="1645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7A87"/>
                </a:solidFill>
                <a:latin typeface="Consolas"/>
              </a:rPr>
              <a:t>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25880" y="4932426"/>
            <a:ext cx="4526280" cy="378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3B4A59"/>
                </a:solidFill>
                <a:latin typeface="Archivo"/>
              </a:rPr>
              <a:t>As in paper, trial-level information from survey was more useful than trial-level information from task, and best results were achieved using both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5347716"/>
            <a:ext cx="1645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7A87"/>
                </a:solidFill>
                <a:latin typeface="Consolas"/>
              </a:rPr>
              <a:t>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25880" y="5347716"/>
            <a:ext cx="4526280" cy="378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3B4A59"/>
                </a:solidFill>
                <a:latin typeface="Archivo"/>
              </a:rPr>
              <a:t>When LLM was given exclusion metrics used in the paper it made more exclusions than the paper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187952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0D141C"/>
                </a:solidFill>
                <a:latin typeface="Archivo"/>
              </a:rPr>
              <a:t>Next steps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4517136"/>
            <a:ext cx="1645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7A87"/>
                </a:solidFill>
                <a:latin typeface="Consolas"/>
              </a:rPr>
              <a:t>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03720" y="4517136"/>
            <a:ext cx="4480560" cy="18935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3B4A59"/>
                </a:solidFill>
                <a:latin typeface="Archivo"/>
              </a:rPr>
              <a:t>Ground truth – paper, AI, or something else?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4743069"/>
            <a:ext cx="1645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7A87"/>
                </a:solidFill>
                <a:latin typeface="Consolas"/>
              </a:rPr>
              <a:t>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03720" y="4743069"/>
            <a:ext cx="4480560" cy="378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3B4A59"/>
                </a:solidFill>
                <a:latin typeface="Archivo"/>
              </a:rPr>
              <a:t>What kinds of processes did the LLM engage in and what information did it use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0" y="5158359"/>
            <a:ext cx="1645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7A87"/>
                </a:solidFill>
                <a:latin typeface="Consolas"/>
              </a:rPr>
              <a:t>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03720" y="5158359"/>
            <a:ext cx="4480560" cy="18935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3B4A59"/>
                </a:solidFill>
                <a:latin typeface="Archivo"/>
              </a:rPr>
              <a:t>Repeating process for other data reliability problems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0" y="5384292"/>
            <a:ext cx="16459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7A87"/>
                </a:solidFill>
                <a:latin typeface="Consolas"/>
              </a:rPr>
              <a:t>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5384292"/>
            <a:ext cx="4480560" cy="18935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3B4A59"/>
                </a:solidFill>
                <a:latin typeface="Archivo"/>
              </a:rPr>
              <a:t>Developing tool for research and/or deriving insight for research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" y="6327648"/>
            <a:ext cx="105613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3DB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22960" y="6327648"/>
            <a:ext cx="45720" cy="402336"/>
          </a:xfrm>
          <a:prstGeom prst="rect">
            <a:avLst/>
          </a:prstGeom>
          <a:solidFill>
            <a:srgbClr val="2F75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42415" y="6428232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0D141C"/>
                </a:solidFill>
                <a:latin typeface="Archivo"/>
              </a:rPr>
              <a:t>Significance: </a:t>
            </a:r>
            <a:r>
              <a:rPr sz="1200" b="0">
                <a:solidFill>
                  <a:srgbClr val="0D141C"/>
                </a:solidFill>
                <a:latin typeface="Archivo"/>
              </a:rPr>
              <a:t>increasing data quality -&gt; more accurate results -&gt; better real-world application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