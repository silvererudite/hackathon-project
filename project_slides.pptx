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4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B7A87"/>
                </a:solidFill>
                <a:latin typeface="Consolas"/>
              </a:rPr>
              <a:t>ELLIS SUMMER SCHOOL 2026  ·  AI FOR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>
                <a:solidFill>
                  <a:srgbClr val="0D141C"/>
                </a:solidFill>
                <a:latin typeface="Archivo"/>
              </a:rPr>
              <a:t>Trust the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3B4A59"/>
                </a:solidFill>
                <a:latin typeface="Archivo"/>
              </a:rPr>
              <a:t>Agentic Quality Control for Scientific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915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A87"/>
                </a:solidFill>
                <a:latin typeface="Archivo"/>
              </a:rPr>
              <a:t>A Case Study of Inattentive Responding in Behavioral Science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35808"/>
            <a:ext cx="10607040" cy="10972"/>
          </a:xfrm>
          <a:prstGeom prst="rect">
            <a:avLst/>
          </a:prstGeom>
          <a:solidFill>
            <a:srgbClr val="D3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31012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3B4A59"/>
                </a:solidFill>
                <a:latin typeface="Archivo"/>
              </a:rPr>
              <a:t>63 correlations across 386 participants. </a:t>
            </a:r>
            <a:r>
              <a:rPr sz="1600" b="0">
                <a:solidFill>
                  <a:srgbClr val="3B4A59"/>
                </a:solidFill>
                <a:latin typeface="Archivo"/>
              </a:rPr>
              <a:t>7 symptom scales against 9 task measures, p &lt; 0.05, uncorrected — chance alone predicts about three.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4164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200" b="1">
                <a:solidFill>
                  <a:srgbClr val="B4741F"/>
                </a:solidFill>
                <a:latin typeface="Consolas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5604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spc="120">
                <a:solidFill>
                  <a:srgbClr val="6B7A87"/>
                </a:solidFill>
                <a:latin typeface="Consolas"/>
              </a:rPr>
              <a:t>SIGNIFICANT OF 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404164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200" b="1">
                <a:solidFill>
                  <a:srgbClr val="0D141C"/>
                </a:solidFill>
                <a:latin typeface="Consolas"/>
              </a:rP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95604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spc="120">
                <a:solidFill>
                  <a:srgbClr val="6B7A87"/>
                </a:solidFill>
                <a:latin typeface="Consolas"/>
              </a:rPr>
              <a:t>FAILED AN ATTENTION CHECK  (22%)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041648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200" b="1">
                <a:solidFill>
                  <a:srgbClr val="2F7565"/>
                </a:solidFill>
                <a:latin typeface="Consolas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95604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spc="120">
                <a:solidFill>
                  <a:srgbClr val="6B7A87"/>
                </a:solidFill>
                <a:latin typeface="Consolas"/>
              </a:rPr>
              <a:t>SURVIVE THEIR EXCLUSION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2245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D3DBE2"/>
                </a:solidFill>
                <a:latin typeface="Consola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2245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D3DBE2"/>
                </a:solidFill>
                <a:latin typeface="Consolas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532120"/>
            <a:ext cx="10607040" cy="25603"/>
          </a:xfrm>
          <a:prstGeom prst="rect">
            <a:avLst/>
          </a:prstGeom>
          <a:solidFill>
            <a:srgbClr val="D3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742432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0D141C"/>
                </a:solidFill>
                <a:latin typeface="Archivo"/>
              </a:rPr>
              <a:t>14 of the 25 findings were manufactured by inattentive participants.</a:t>
            </a:r>
            <a:r>
              <a:rPr sz="1500" b="0">
                <a:solidFill>
                  <a:srgbClr val="3B4A59"/>
                </a:solidFill>
                <a:latin typeface="Archivo"/>
              </a:rPr>
              <a:t>  Which conclusions a study reaches is decided by who the analyst kept — a choice usually buried in one line of preprocessing.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1908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A87"/>
                </a:solidFill>
                <a:latin typeface="Consolas"/>
              </a:rPr>
              <a:t>Shamima Hossain · Ritesh Moon · Yuheng Zhao · Alexandra Zienkiewic · Mikaela Akrenius      |      Data: Zorowitz et al., Nature Human Behaviour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B2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spc="140">
                <a:solidFill>
                  <a:srgbClr val="6B7A87"/>
                </a:solidFill>
                <a:latin typeface="Consolas"/>
              </a:rPr>
              <a:t>SIX CONDITIONS  ·  IDENTICAL PROMPT  ·  gpt-4.1-mini  ·  CORRELATION TABLE FIXED AT 386 SUBJECTS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41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D141C"/>
                </a:solidFill>
                <a:latin typeface="Archivo"/>
              </a:rPr>
              <a:t>Three of six conclusions described an analysis the agent never ran.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10">
                <a:solidFill>
                  <a:srgbClr val="6B7A87"/>
                </a:solidFill>
                <a:latin typeface="Consolas"/>
              </a:rPr>
              <a:t>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8288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10">
                <a:solidFill>
                  <a:srgbClr val="6B7A87"/>
                </a:solidFill>
                <a:latin typeface="Consolas"/>
              </a:rPr>
              <a:t>EVIDENCE GIVEN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10">
                <a:solidFill>
                  <a:srgbClr val="6B7A87"/>
                </a:solidFill>
                <a:latin typeface="Consolas"/>
              </a:rPr>
              <a:t>FLAGGED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82880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10">
                <a:solidFill>
                  <a:srgbClr val="6B7A87"/>
                </a:solidFill>
                <a:latin typeface="Consolas"/>
              </a:rPr>
              <a:t>ACTUALLY
EXCLUDED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828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10">
                <a:solidFill>
                  <a:srgbClr val="6B7A87"/>
                </a:solidFill>
                <a:latin typeface="Consolas"/>
              </a:rPr>
              <a:t>AGENT
REPORTED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828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10">
                <a:solidFill>
                  <a:srgbClr val="6B7A87"/>
                </a:solidFill>
                <a:latin typeface="Consolas"/>
              </a:rPr>
              <a:t>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828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110">
                <a:solidFill>
                  <a:srgbClr val="6B7A87"/>
                </a:solidFill>
                <a:latin typeface="Consola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04288"/>
            <a:ext cx="10607040" cy="14630"/>
          </a:xfrm>
          <a:prstGeom prst="rect">
            <a:avLst/>
          </a:prstGeom>
          <a:solidFill>
            <a:srgbClr val="0D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32304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141C"/>
                </a:solidFill>
                <a:latin typeface="Consolas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4323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32304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432304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43230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0D141C"/>
                </a:solidFill>
                <a:latin typeface="Consolas"/>
              </a:rPr>
              <a:t>25/63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43230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25/63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4460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00">
                <a:solidFill>
                  <a:srgbClr val="2F7565"/>
                </a:solidFill>
                <a:latin typeface="Consolas"/>
              </a:rPr>
              <a:t>MATCHES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90779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141C"/>
                </a:solidFill>
                <a:latin typeface="Consolas"/>
              </a:rPr>
              <a:t>test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9077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2907792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9077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9077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0D141C"/>
                </a:solidFill>
                <a:latin typeface="Consolas"/>
              </a:rPr>
              <a:t>25/63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9077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25/63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92150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00">
                <a:solidFill>
                  <a:srgbClr val="2F7565"/>
                </a:solidFill>
                <a:latin typeface="Consolas"/>
              </a:rPr>
              <a:t>MATCHES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342132"/>
            <a:ext cx="10607040" cy="420624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3832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141C"/>
                </a:solidFill>
                <a:latin typeface="Consolas"/>
              </a:rPr>
              <a:t>test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3832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3832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171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38328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>
                <a:solidFill>
                  <a:srgbClr val="B23A42"/>
                </a:solidFill>
                <a:latin typeface="Consola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3832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0D141C"/>
                </a:solidFill>
                <a:latin typeface="Consolas"/>
              </a:rPr>
              <a:t>25/63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3832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13/63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339699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00">
                <a:solidFill>
                  <a:srgbClr val="B23A42"/>
                </a:solidFill>
                <a:latin typeface="Consolas"/>
              </a:rPr>
              <a:t>SILENT FAILURE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3817620"/>
            <a:ext cx="10607040" cy="420624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85876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141C"/>
                </a:solidFill>
                <a:latin typeface="Consolas"/>
              </a:rPr>
              <a:t>test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3858768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survey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858768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85876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>
                <a:solidFill>
                  <a:srgbClr val="B23A42"/>
                </a:solidFill>
                <a:latin typeface="Consolas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38587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0D141C"/>
                </a:solidFill>
                <a:latin typeface="Consolas"/>
              </a:rPr>
              <a:t>25/63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8587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23/63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3872484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00">
                <a:solidFill>
                  <a:srgbClr val="B23A42"/>
                </a:solidFill>
                <a:latin typeface="Consolas"/>
              </a:rPr>
              <a:t>SILENT FAILURE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293108"/>
            <a:ext cx="10607040" cy="420624"/>
          </a:xfrm>
          <a:prstGeom prst="rect">
            <a:avLst/>
          </a:prstGeom>
          <a:solidFill>
            <a:srgbClr val="F7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334256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141C"/>
                </a:solidFill>
                <a:latin typeface="Consolas"/>
              </a:rPr>
              <a:t>test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433425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task + survey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4334256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41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4334256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>
                <a:solidFill>
                  <a:srgbClr val="B23A42"/>
                </a:solidFill>
                <a:latin typeface="Consolas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433425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0D141C"/>
                </a:solidFill>
                <a:latin typeface="Consolas"/>
              </a:rPr>
              <a:t>25/63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433425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13/63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43479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00">
                <a:solidFill>
                  <a:srgbClr val="B23A42"/>
                </a:solidFill>
                <a:latin typeface="Consolas"/>
              </a:rPr>
              <a:t>SILENT FAILURE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4809744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D141C"/>
                </a:solidFill>
                <a:latin typeface="Consolas"/>
              </a:rPr>
              <a:t>test 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720" y="480974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+ attention checks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0" y="4809744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85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4809744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85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40" y="480974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0D141C"/>
                </a:solidFill>
                <a:latin typeface="Consolas"/>
              </a:rPr>
              <a:t>11/63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4809744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>
                <a:solidFill>
                  <a:srgbClr val="3B4A59"/>
                </a:solidFill>
                <a:latin typeface="Consolas"/>
              </a:rPr>
              <a:t>11/63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21240" y="4823459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spc="100">
                <a:solidFill>
                  <a:srgbClr val="2F7565"/>
                </a:solidFill>
                <a:latin typeface="Consolas"/>
              </a:rPr>
              <a:t>MATCHES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7240" y="5230368"/>
            <a:ext cx="10607040" cy="10972"/>
          </a:xfrm>
          <a:prstGeom prst="rect">
            <a:avLst/>
          </a:prstGeom>
          <a:solidFill>
            <a:srgbClr val="D3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7240" y="5541264"/>
            <a:ext cx="41148" cy="1225296"/>
          </a:xfrm>
          <a:prstGeom prst="rect">
            <a:avLst/>
          </a:prstGeom>
          <a:solidFill>
            <a:srgbClr val="B2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4128" y="5559551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0D141C"/>
                </a:solidFill>
                <a:latin typeface="Consolas"/>
              </a:rPr>
              <a:t>test 4  →  “after excluding 195 subjects…”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" y="594360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0D141C"/>
                </a:solidFill>
                <a:latin typeface="Archivo"/>
              </a:rPr>
              <a:t>It excluded nobody.</a:t>
            </a:r>
            <a:r>
              <a:rPr sz="1400" b="0">
                <a:solidFill>
                  <a:srgbClr val="3B4A59"/>
                </a:solidFill>
                <a:latin typeface="Archivo"/>
              </a:rPr>
              <a:t>  It flagged the subjects, wrote a conclusion describing their removal, then ran the sweep over the untouched sample. Every number it reported is internally plausible — </a:t>
            </a:r>
            <a:r>
              <a:rPr sz="1400" b="1">
                <a:solidFill>
                  <a:srgbClr val="0D141C"/>
                </a:solidFill>
                <a:latin typeface="Archivo"/>
              </a:rPr>
              <a:t>an output-only benchmark scores this as a success.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641908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A87"/>
                </a:solidFill>
                <a:latin typeface="Consolas"/>
              </a:rPr>
              <a:t>So we record the process, not just the answer — 9 fields per step, including what the agent did and what it believed it had done.      |      test 1 is the quiet win: asked to exclude, given nothing to exclude with, it declined.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