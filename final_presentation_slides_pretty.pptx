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spc="180">
                <a:solidFill>
                  <a:srgbClr val="B4741F"/>
                </a:solidFill>
                <a:latin typeface="Consolas"/>
              </a:rPr>
              <a:t>DATA GUARDIANS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9572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800" b="1">
                <a:solidFill>
                  <a:srgbClr val="0D141C"/>
                </a:solidFill>
                <a:latin typeface="Archivo"/>
              </a:rPr>
              <a:t>Trust the data? – Agentic Quality Control for Scientific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58768"/>
            <a:ext cx="2194560" cy="27432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096512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0">
                <a:solidFill>
                  <a:srgbClr val="3B4A59"/>
                </a:solidFill>
                <a:latin typeface="Archivo"/>
              </a:rPr>
              <a:t>A Case Study of Inattentive Responding in Behavioral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704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3B4A59"/>
                </a:solidFill>
                <a:latin typeface="Consolas"/>
              </a:rPr>
              <a:t>Shamima Hossain, Ritesh Moon, Yuheng Zhao, Alexandra Zienkiewic, Mikaela Akrenius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81344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20">
                <a:solidFill>
                  <a:srgbClr val="6B7A87"/>
                </a:solidFill>
                <a:latin typeface="Consolas"/>
              </a:rPr>
              <a:t>ELLIS Summer School AI4Research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85925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1627632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In the 21st century, a plethora of behavioral sciences rely on information gathered through online experiments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7395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1959102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Benefits: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905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90572"/>
            <a:ext cx="10058400" cy="188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fast data collection, larger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529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529840"/>
            <a:ext cx="10058400" cy="188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participants from more diverse populations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27401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2769108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Main issue: data quality, leading to false conclusions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10057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00578"/>
            <a:ext cx="10058400" cy="188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Participants multitask, get distracted -&gt; inattention to experiment/survey -&gt; inflated correlations, false negatives and positives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3984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39846"/>
            <a:ext cx="10058400" cy="188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Participants maximize reward for completing a larger number of tasks more quickly instead of providing good quality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357911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579114"/>
            <a:ext cx="10058400" cy="188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Participants misunderstand instructions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76674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3818382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Assessing data quality without interacting with participants is difficult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08145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3" y="4149852"/>
            <a:ext cx="10369296" cy="637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Current state of the art: attention checks, task-based quality measures (e.g., accuracy), following threads on participant forums, developing statistical tools for specific experimental settings -&gt; slow process whereas data collection needs to be fast and participant strategies change quickly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64810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4906517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Excluding participants from a study requires sturdy, pre-defined criteria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296280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3" y="5237987"/>
            <a:ext cx="10369296" cy="212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We need a fast, automated, justified process for detecting participants that provided poor quality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Target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59077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1700784"/>
            <a:ext cx="5705856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Spurious correlations between poor task performance and symptom measures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03145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244852"/>
            <a:ext cx="5705856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Task measures: descriptive + model-based measures of performance in reinforcement learning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847213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788920"/>
            <a:ext cx="5705856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Symptom measures: scales assessing psychiatric symptoms (e.g., depression, anxiety, worry)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91281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332987"/>
            <a:ext cx="5705856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Earlier work aimed to detect these based on task performance (e.g., accuracy) alone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35348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3877055"/>
            <a:ext cx="5705856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Authors introduce novel measures based on responses in survey measures (e.g., coherence)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00784"/>
            <a:ext cx="43434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184" y="2121408"/>
            <a:ext cx="4050791" cy="22089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40880" y="4480560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950" b="0" spc="120">
                <a:solidFill>
                  <a:srgbClr val="6B7A87"/>
                </a:solidFill>
                <a:latin typeface="Consolas"/>
              </a:rPr>
              <a:t>ZOROWITZ ET AL. (2023)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Hypothesis and Baseline for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07040" cy="975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45720" cy="97536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939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spc="130">
                <a:solidFill>
                  <a:srgbClr val="6B7A87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93976"/>
            <a:ext cx="950976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0">
                <a:solidFill>
                  <a:srgbClr val="0D141C"/>
                </a:solidFill>
                <a:latin typeface="Archivo"/>
              </a:rPr>
              <a:t>The conditions for creating spurious correlations and presence of inattentive participants are also reflected in statistical properties of the data (e.g., skewed distributions, shifted means, outliers)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7624"/>
            <a:ext cx="10607040" cy="975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7624"/>
            <a:ext cx="45720" cy="97536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307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spc="130">
                <a:solidFill>
                  <a:srgbClr val="6B7A87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307080"/>
            <a:ext cx="950976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0">
                <a:solidFill>
                  <a:srgbClr val="0D141C"/>
                </a:solidFill>
                <a:latin typeface="Archivo"/>
              </a:rPr>
              <a:t>Could AI use baseline statistical properties of the data to trace the same participants that the researchers did using red flag heuristics?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00728"/>
            <a:ext cx="10607040" cy="975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300728"/>
            <a:ext cx="45720" cy="97536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201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spc="130">
                <a:solidFill>
                  <a:srgbClr val="6B7A87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520184"/>
            <a:ext cx="950976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0">
                <a:solidFill>
                  <a:srgbClr val="0D141C"/>
                </a:solidFill>
                <a:latin typeface="Archivo"/>
              </a:rPr>
              <a:t>Could AI be used more generally for tracing unreliable participants and/or results based on statistical information that humans did not take a look at?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7276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spc="130">
                <a:solidFill>
                  <a:srgbClr val="6B7A87"/>
                </a:solidFill>
                <a:latin typeface="Consolas"/>
              </a:rPr>
              <a:t>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65376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156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87909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39696"/>
            <a:ext cx="4526280" cy="496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63 Spearman correlations, 7 symptom scales x 9 task measures. Two-sided, p &lt; 0.05, deliberately uncorrected. The test prompt adds one sentence: exclude subjects that induce spurious correlations.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65404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10078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6037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92379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184398"/>
            <a:ext cx="4526280" cy="330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Writes and executes its own Python. No fixed tool menu -- it inspects, revises and re-runs, so the path it takes is a result, not a setting.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53339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9426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3971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14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Trace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63746"/>
            <a:ext cx="4526280" cy="330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Nine fields per step: phase, thought, action, observation, error, revision trigger, confidence, id, timestamp.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41274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668774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19066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68249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D141C"/>
                </a:solidFill>
                <a:latin typeface="Archivo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943094"/>
            <a:ext cx="4526280" cy="330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Against a deterministic reference analysis, and against the agent's own conclusion -- did it do what it said it did?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572768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spc="130">
                <a:solidFill>
                  <a:srgbClr val="6B7A87"/>
                </a:solidFill>
                <a:latin typeface="Consolas"/>
              </a:rPr>
              <a:t>FIVE CONDITIONS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8470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6B7A87"/>
                </a:solidFill>
                <a:latin typeface="Archivo"/>
              </a:rPr>
              <a:t>The prompt never changes. Only the evidence available for judging quality.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267712"/>
            <a:ext cx="5029200" cy="12801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23774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377440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377440"/>
            <a:ext cx="2331720" cy="15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no basis to exclude at 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76148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7614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task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2761488"/>
            <a:ext cx="2331720" cy="15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accuracy, response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145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3145536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survey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145536"/>
            <a:ext cx="2331720" cy="15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per-item responses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52958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529584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task + survey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3529584"/>
            <a:ext cx="2331720" cy="15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both proxies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391363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391363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+ metrics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3913632"/>
            <a:ext cx="2331720" cy="15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the paper's own attention checks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251960"/>
            <a:ext cx="5029200" cy="12801"/>
          </a:xfrm>
          <a:prstGeom prst="rect">
            <a:avLst/>
          </a:prstGeom>
          <a:solidFill>
            <a:srgbClr val="D3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4074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6B7A87"/>
                </a:solidFill>
                <a:latin typeface="Archivo"/>
              </a:rPr>
              <a:t>TEST 1 has no basis for exclusion — declining to exclude is the correct answer.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760720"/>
            <a:ext cx="10607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5760720"/>
            <a:ext cx="45720" cy="78638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879592"/>
            <a:ext cx="10149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0D141C"/>
                </a:solidFill>
                <a:latin typeface="Archivo"/>
              </a:rPr>
              <a:t>Controls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6108192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Correlations always run on the same 386-subject table, so n is identical in every condition  ·  the paper's attention-check labels are held out and used only to score exclusions  ·  the reference analysis is deterministic (scipy), no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Aggregate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572768"/>
            <a:ext cx="3794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 spc="130">
                <a:solidFill>
                  <a:srgbClr val="6B7A87"/>
                </a:solidFill>
                <a:latin typeface="Consolas"/>
              </a:rPr>
              <a:t>REFERENCE — PAPER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847088"/>
            <a:ext cx="3794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1911095"/>
            <a:ext cx="3648456" cy="15248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57276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 spc="130">
                <a:solidFill>
                  <a:srgbClr val="6B7A87"/>
                </a:solidFill>
                <a:latin typeface="Consolas"/>
              </a:rPr>
              <a:t>OURS — FIVE DATA CONDITIONS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156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6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47288"/>
            <a:ext cx="1993391" cy="139515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56048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2656" y="340156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375" y="3447288"/>
            <a:ext cx="1993391" cy="137437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62656" y="4956048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48071" y="340156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6_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3791" y="3447288"/>
            <a:ext cx="1993391" cy="1389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48071" y="4956048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33488" y="340156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6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9208" y="3447288"/>
            <a:ext cx="1993391" cy="13850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33488" y="4956048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18903" y="340156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6_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4624" y="3447288"/>
            <a:ext cx="1993391" cy="137032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18903" y="4956048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358384"/>
            <a:ext cx="10607040" cy="12801"/>
          </a:xfrm>
          <a:prstGeom prst="rect">
            <a:avLst/>
          </a:prstGeom>
          <a:solidFill>
            <a:srgbClr val="D3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41264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25 of 63 correlations are significant on all 386 subjects</a:t>
            </a:r>
            <a:r>
              <a:rPr sz="1300" b="0">
                <a:solidFill>
                  <a:srgbClr val="3B4A59"/>
                </a:solidFill>
                <a:latin typeface="Archivo"/>
              </a:rPr>
              <a:t> — about three are expected from noise alone. Excluding the 85 participants who failed an attention check leaves </a:t>
            </a:r>
            <a:r>
              <a:rPr sz="1300" b="1">
                <a:solidFill>
                  <a:srgbClr val="0D141C"/>
                </a:solidFill>
                <a:latin typeface="Archivo"/>
              </a:rPr>
              <a:t>11</a:t>
            </a:r>
            <a:r>
              <a:rPr sz="1300" b="0">
                <a:solidFill>
                  <a:srgbClr val="3B4A59"/>
                </a:solidFill>
                <a:latin typeface="Archivo"/>
              </a:rPr>
              <a:t>. Fourteen of the original findings do not survive quality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>
                <a:solidFill>
                  <a:srgbClr val="0D141C"/>
                </a:solidFill>
                <a:latin typeface="Archivo"/>
              </a:rPr>
              <a:t>Main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56816"/>
            <a:ext cx="1005840" cy="20116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13969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39696"/>
            <a:ext cx="4480560" cy="409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As expected, LLM needed more than summary information from the data to exclude participants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3202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32024"/>
            <a:ext cx="4480560" cy="61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As in paper, trial-level information from survey was more useful than trial-level information from task, and best results were achieved using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2907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29076"/>
            <a:ext cx="4480560" cy="409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When LLM was given exclusion metrics used in the paper it made more exclusions than the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459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>
                <a:solidFill>
                  <a:srgbClr val="0D141C"/>
                </a:solidFill>
                <a:latin typeface="Archivo"/>
              </a:rPr>
              <a:t>Next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956816"/>
            <a:ext cx="1005840" cy="20116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213969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39696"/>
            <a:ext cx="4434840" cy="204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Ground truth – paper, AI, or something else?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52730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27300"/>
            <a:ext cx="4434840" cy="409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What kinds of processes did the LLM engage in and what information did it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311962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119628"/>
            <a:ext cx="4434840" cy="204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Repeating process for other data reliability problems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50723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507232"/>
            <a:ext cx="4434840" cy="409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3B4A59"/>
                </a:solidFill>
                <a:latin typeface="Archivo"/>
              </a:rPr>
              <a:t>Developing tool for research and/or deriving insight for research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spc="160">
                <a:solidFill>
                  <a:srgbClr val="6B7A87"/>
                </a:solidFill>
                <a:latin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100" b="1">
                <a:solidFill>
                  <a:srgbClr val="0D141C"/>
                </a:solidFill>
                <a:latin typeface="Archivo"/>
              </a:rPr>
              <a:t>Significance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463040" cy="25603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77440"/>
            <a:ext cx="10607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54864" cy="173736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889504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0D141C"/>
                </a:solidFill>
                <a:latin typeface="Archivo"/>
              </a:rPr>
              <a:t>Better participants, better science – more reliable results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